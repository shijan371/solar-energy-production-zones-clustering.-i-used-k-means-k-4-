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822960"/>
            <a:ext cx="2926080" cy="292608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-365760"/>
            <a:ext cx="1828800" cy="182880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1234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Solar Energy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47472" y="19202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Zones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47472" y="27889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for Strategic Solar Market Analysis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7472" y="3310128"/>
            <a:ext cx="32004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347472" y="3493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Shijan Shiby  |  </a:t>
            </a:r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Spinnaker Analytics  |  </a:t>
            </a:r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32320" y="4617720"/>
            <a:ext cx="1828800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132320" y="4617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Report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527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430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11430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874520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874520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8424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18745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25880" y="18745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EDA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0040" y="2606040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606040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1576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" y="26060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25880" y="2606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20040" y="3337560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337560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4728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33375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325880" y="33375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Algorithms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20040" y="4069080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0040" y="4069080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78808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68680" y="40690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325880" y="40690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 &amp; Results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754880" y="1143000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54880" y="1143000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252728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03520" y="11430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5760720" y="11430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Production Zones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4754880" y="1874520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754880" y="1874520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1984248"/>
            <a:ext cx="347472" cy="34747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303520" y="18745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5760720" y="18745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Visualization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4754880" y="2606040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754880" y="2606040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715768"/>
            <a:ext cx="347472" cy="34747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303520" y="26060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3" name="Text 33"/>
          <p:cNvSpPr/>
          <p:nvPr/>
        </p:nvSpPr>
        <p:spPr>
          <a:xfrm>
            <a:off x="5760720" y="2606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4754880" y="3337560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4754880" y="3337560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3447288"/>
            <a:ext cx="347472" cy="34747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5303520" y="33375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48" name="Text 37"/>
          <p:cNvSpPr/>
          <p:nvPr/>
        </p:nvSpPr>
        <p:spPr>
          <a:xfrm>
            <a:off x="5760720" y="33375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6858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6128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515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Leverage solar project data to cluster geographical areas (NY counties) by energy production, enabling strategic decision-making for Spinnaker Analytics.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965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96596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26334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Targeting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65760" y="299923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high-potential regions for focused sales &amp; marketing efforts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1965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196596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21031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91840" y="26334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Feasibility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291840" y="299923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Pre-identify areas with high historical production for client proposals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126480" y="1965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26480" y="196596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210312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17920" y="26334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217920" y="299923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into solar variability to guide project allocation and deployment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27432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274320" y="431596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18"/>
          <p:cNvSpPr/>
          <p:nvPr/>
        </p:nvSpPr>
        <p:spPr>
          <a:xfrm>
            <a:off x="530352" y="4279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Algorithm Implementation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2487168" y="431596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0"/>
          <p:cNvSpPr/>
          <p:nvPr/>
        </p:nvSpPr>
        <p:spPr>
          <a:xfrm>
            <a:off x="2743200" y="4279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Visualization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700016" y="431596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2"/>
          <p:cNvSpPr/>
          <p:nvPr/>
        </p:nvSpPr>
        <p:spPr>
          <a:xfrm>
            <a:off x="4956048" y="4279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&amp; Recommendations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912864" y="431596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4"/>
          <p:cNvSpPr/>
          <p:nvPr/>
        </p:nvSpPr>
        <p:spPr>
          <a:xfrm>
            <a:off x="7168896" y="4279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965960" cy="11430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218,115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Projects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50592" y="1051560"/>
            <a:ext cx="1965960" cy="11430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188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50592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26864" y="1051560"/>
            <a:ext cx="1965960" cy="1143000"/>
          </a:xfrm>
          <a:prstGeom prst="rect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188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26864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Counties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03136" y="1051560"/>
            <a:ext cx="1965960" cy="114300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188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03136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Dataset Features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88920"/>
          <a:ext cx="8595360" cy="210312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46634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 / City / Zip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identifiers for clustering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Annual PV Energy (kWh)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clustering 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PV System Size (kWdc)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capacity in DC kilowatts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System Size (kWac)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capacity in AC kilowatts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utilities across New York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project developer/installer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Interconnection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project was connected to grid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600" dirty="0"/>
          </a:p>
        </p:txBody>
      </p:sp>
      <p:pic>
        <p:nvPicPr>
          <p:cNvPr id="4" name="Image 0" descr="/home/claude/plots/ed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60120"/>
            <a:ext cx="87782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Steps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361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Developer &amp; City/Town → 'Unknown'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07568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0391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Energy Storage column (98% missing)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57860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54203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3 rows with missing Project ID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08152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04495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Interconnection &amp; Data Through dates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58444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5478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top 0.1% energy outliers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408736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0507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features with StandardScaler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1005840"/>
            <a:ext cx="42976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005840"/>
            <a:ext cx="429768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(County Level)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536192"/>
            <a:ext cx="411480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15361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total_energy_kwh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75120" y="153619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energy production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011680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0116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avg_energy_kwh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75120" y="20116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energy per project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487168"/>
            <a:ext cx="411480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24871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total_projects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75120" y="248716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solar projects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2962656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29626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avg_system_size_kw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75120" y="296265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PV system size (kWdc)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3438144"/>
            <a:ext cx="411480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34381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total_capacity_kw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675120" y="343814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installed capacity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3913632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709160" y="39136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energy_per_project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675120" y="39136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Derived: energy efficiency proxy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4389120"/>
            <a:ext cx="411480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43891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capacity_per_project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675120" y="438912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Derived: avg project scale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Algorithms Explored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1640" y="1115568"/>
            <a:ext cx="118872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1115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scalable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2677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clusters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6151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Well-defined zone boundaries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9626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with fixed seed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401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6941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pre-set k 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0416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outliers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572000"/>
            <a:ext cx="256032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572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k=4, Silhouette=0.431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00584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1005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17720" y="1115568"/>
            <a:ext cx="11887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1115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19202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 required upfront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22677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visualization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26151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linkage = compact clusters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30540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33467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on large data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36941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reassign points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91840" y="4572000"/>
            <a:ext cx="256032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4572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k=4, Silhouette=0.416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100584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1005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43800" y="1115568"/>
            <a:ext cx="1188720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7" name="Text 35"/>
          <p:cNvSpPr/>
          <p:nvPr/>
        </p:nvSpPr>
        <p:spPr>
          <a:xfrm>
            <a:off x="7543800" y="1115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Poor fit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19202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arbitrary shapes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22677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noise/outliers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0" y="2706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17920" y="29992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cluster found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0" y="33467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counties too uniform in density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7920" y="4572000"/>
            <a:ext cx="256032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0" y="4572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cluster, 4 noise pts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 &amp; Model Selection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029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plots/elb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51560"/>
            <a:ext cx="493776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371600"/>
          <a:ext cx="33832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60120"/>
                <a:gridCol w="9601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0.4311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Davies-Bouldin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0.5317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Calinski-Harabasz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60.54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0" y="3383280"/>
            <a:ext cx="3383280" cy="6858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486400" y="3383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Winner: K-Means (k=4)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0" y="3730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scores across all 3 metrics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4320" y="4114800"/>
            <a:ext cx="8595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74320" y="411480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k=4?  Silhouette score peaks at k=3 (0.526), but k=4 provides superior business interpretability — four distinct strategic zones (Premium, High Volume, Moderate, Emerging) align directly with Spinnaker's sales &amp; planning framework.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Results</a:t>
            </a:r>
            <a:endParaRPr lang="en-US" sz="2600" dirty="0"/>
          </a:p>
        </p:txBody>
      </p:sp>
      <p:pic>
        <p:nvPicPr>
          <p:cNvPr id="4" name="Image 0" descr="/home/claude/plots/clust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60120"/>
            <a:ext cx="87782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 Production Zones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502920" cy="1828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1430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5270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39 counties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801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3,802 GWh total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0756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158,350 projects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3500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42.5 kW avg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6060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Albany, Erie, Nassau, Westchester...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51560"/>
            <a:ext cx="502920" cy="1828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051560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0" y="11430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03520" y="15270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20 counties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1801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1,457 GWh total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0756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7,790 projects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23500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166.8 kW avg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0" y="26060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Jefferson, Oneida, Oswego, Steuben...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0632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63240"/>
            <a:ext cx="502920" cy="1828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063240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8680" y="35387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 counties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38130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877 GWh total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4087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51,712 projects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43616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14.5 kW avg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461772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Suffolk (standalone market)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30632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063240"/>
            <a:ext cx="502920" cy="1828800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3063240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03520" y="31546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03520" y="35387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2 counties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38130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139 GWh total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03520" y="4087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260 projects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43616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468.8 kW avg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0" y="461772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Allegany, Lewis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Feature Heatmap &amp; Zone Breakdown</a:t>
            </a:r>
            <a:endParaRPr lang="en-US" sz="2200" dirty="0"/>
          </a:p>
        </p:txBody>
      </p:sp>
      <p:pic>
        <p:nvPicPr>
          <p:cNvPr id="4" name="Image 0" descr="/home/claude/plots/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60120"/>
            <a:ext cx="87782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Visualization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943600" cy="3931920"/>
          </a:xfrm>
          <a:prstGeom prst="rect">
            <a:avLst/>
          </a:prstGeom>
          <a:solidFill>
            <a:srgbClr val="0D1B2A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16459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Plotly Choropleth Map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6118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62 NY counties color-coded by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 Production Zone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2976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each county for: Total Energy (GWh), Project Count, Avg System Size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92240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Legend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92240" y="1463040"/>
            <a:ext cx="274320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 — Premium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0" y="17190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counties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92240" y="2057400"/>
            <a:ext cx="274320" cy="2743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039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 — High Volume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0" y="2313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counties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92240" y="2651760"/>
            <a:ext cx="274320" cy="274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0" y="2633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 — Moderate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0" y="2907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county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92240" y="3246120"/>
            <a:ext cx="274320" cy="274320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3227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 — Emerging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58000" y="3502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counties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492240" y="4069080"/>
            <a:ext cx="24231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92240" y="4069080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1"/>
          <p:cNvSpPr/>
          <p:nvPr/>
        </p:nvSpPr>
        <p:spPr>
          <a:xfrm>
            <a:off x="6601968" y="406908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Plotly Express using NY county FIPS codes &amp; GeoJSON data. Fully interactive in Jupyter Notebook.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38404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 — Premium — Prioritize Immediately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dedicated sales teams in Nassau, Erie, Westchester, Queens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solar expansions &amp; system upgrade proposals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utility-scale &amp; commercial installation clients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51560"/>
            <a:ext cx="4114800" cy="38404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 — High Volume — Commercial Focus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5087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industrial &amp; commercial clients (high avg system size)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920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local utilities and established developers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331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feasibility studies for utility-scale projects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17520"/>
            <a:ext cx="4114800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0175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 — Moderate — Suffolk Strategy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474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Suffolk is a standalone market with 51,712 projects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8862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community solar, residential, and NEM programs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297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storage, upgrades &amp; incentive programs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0175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017520"/>
            <a:ext cx="4114800" cy="384048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0175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 — Emerging — Long-term Growth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3474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competition — establish early presence now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38862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feasibility pilots in Allegany &amp; Lewis counties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4297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municipalities for solar incentive programs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Cross-Zone: Allocate 70% of sales budget to Zone A | Use Zone B for B2B enterprise | Enrich future data with GHI/DNI irradiance for precision clustering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1234440"/>
            <a:ext cx="841248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844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1234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218,115 NY solar projects successfully clustered into 4 actionable production zones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65760" y="1801368"/>
            <a:ext cx="841248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65376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18013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outperformed Hierarchical &amp; DBSCAN across all evaluation metrics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65760" y="2368296"/>
            <a:ext cx="841248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32304"/>
            <a:ext cx="329184" cy="3291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2368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 (39 counties) identified as top priority market for Spinnaker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365760" y="2935224"/>
            <a:ext cx="841248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99232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68680" y="293522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Plotly map enables county-level exploration of results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365760" y="3611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365760" y="404164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3"/>
          <p:cNvSpPr/>
          <p:nvPr/>
        </p:nvSpPr>
        <p:spPr>
          <a:xfrm>
            <a:off x="594360" y="40050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dataset with solar irradiance (GHI/DNI) data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365760" y="429768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15"/>
          <p:cNvSpPr/>
          <p:nvPr/>
        </p:nvSpPr>
        <p:spPr>
          <a:xfrm>
            <a:off x="594360" y="42611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Power BI / Tableau dashboard for stakeholders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365760" y="455371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17"/>
          <p:cNvSpPr/>
          <p:nvPr/>
        </p:nvSpPr>
        <p:spPr>
          <a:xfrm>
            <a:off x="594360" y="45171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zone migration year-over-year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365760" y="480974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19"/>
          <p:cNvSpPr/>
          <p:nvPr/>
        </p:nvSpPr>
        <p:spPr>
          <a:xfrm>
            <a:off x="594360" y="47731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 as a REST API for real-time scoring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486400" y="3566160"/>
            <a:ext cx="3383280" cy="13716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5486400" y="3657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Shijan Shiby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5486400" y="40690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Spinnaker Analytics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Solar Energy Production Zones</dc:title>
  <dc:subject>PptxGenJS Presentation</dc:subject>
  <dc:creator>Shijan Shiby</dc:creator>
  <cp:lastModifiedBy>Shijan Shiby</cp:lastModifiedBy>
  <cp:revision>1</cp:revision>
  <dcterms:created xsi:type="dcterms:W3CDTF">2026-03-17T20:25:14Z</dcterms:created>
  <dcterms:modified xsi:type="dcterms:W3CDTF">2026-03-17T20:25:14Z</dcterms:modified>
</cp:coreProperties>
</file>